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開場：今天從 Chapter 1 開始，每一頁簡報右上角都有課本頁碼，讓學生同步翻課本。先講今天大概會上到哪裡（看進度，至少 Chapter 1 全部）。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四章的主線：第一章學「A 是 B」，第二、三章學怎麼「問問題」，第四章學怎麼說「在哪裡」。跟學生說：這四章其實都在用同一個東西，就是 be 動詞。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先讓學生唸一次標題 Hi, I am Sooji.。這一章的核心只有一句：「誰 ＋ 是 ＋ 什麼」，其他都是這句的變形。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主格 = 當「主詞」用的代名詞，放在句子最前面，就是「誰」。先帶學生念完整張表，重點放在單數和複數對照：I → we、he/she/it → they。第二人稱 you 單複數長一樣，要看上下文。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動詞就是「是」。am / are / is 三個長得不一樣，但都是同一個字，看主詞決定用哪個。口訣：I 配 am，you / we / they 配 are，he / she / it 配 is。補語 = be 動詞後面接的東西，講「主詞是什麼、怎麼樣」。縮寫要讓學生自己唸一次。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直述句就是「陳述一件事」，句尾句點。變成問句只要做一件事：把 be 動詞搬到最前面，句尾改問號，什麼字都不用加。讓學生把 She is pretty. 自己改成問句。回答用 Yes / No 開頭。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否定句更簡單：be 動詞後面加 not，就結束了。縮寫有兩種，都可以，只有 am not 不能縮成 amn't。讓學生把 He is a doctor. 改成否定句，然後兩種縮寫各講一次。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讓學生口頭回答就好，不用寫。第 1 題卡住就回去看口訣：I → am、he/she/it → is、其他 → are。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對答案。答錯的地方回到前面的表格再看一次，不要直接跳過。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先自己唸一遍給學生聽，再讓學生扮演 Sooji、你扮演 Justin，之後互換。重點三句：Nice to meet you. / How about you? / I'm a doctor.（職業前面要加 a）。too 放句尾。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重點句型：Where are you from? 回答兩種：I'm from ＋ 國家 或 I'm ＋ 國籍。No, I'm not. 是 No, I'm not American. 省略重複的字。國名和國籍第一個字母一定大寫。可以馬上問學生：Where are you from?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國籍的字尾有三種：-an（Korean, American）、-ese（Japanese, Chinese）、-ish/其他（French, German）。不用背規則，先會唸。職業帶過一次就好，Point 那句 I work for a company. 可以教學生說自己是上班族／學生。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 / afternoon / evening 是見面用的；Good night 只用在道別或睡前。朋友之間直接 Hi、Hello。Take care 是「保重」，可以回 You too.。這頁可以直接跟學生練：你說 Good morning，他回。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第二章開始學「問問題」。上一章的問句只能問 Yes / No，這一章開始用 who、how 問「誰」和「多～」。規則跟上一章一樣：be 動詞要跑到主詞前面。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= 誰，放句首，後面接 be 動詞再接主詞。be 動詞還是看主詞：單數用 is，複數用 are。順便帶複數規則：名詞加 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後面一定要接一個形容詞，才知道在問「多什麼」：多高、多重、多聰明。順序一樣：How ＋ 形容詞 ＋ be 動詞 ＋ 主詞。可以問學生 How tall are you?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所有格 = 「誰的」。不能單獨用，後面一定要接名詞：my book、your sister。跟主格一一對照著背：I → my、you → your、he → his、she → her、it → its、we → our、they → their。普通名詞的所有格加 's。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把兩個東西連起來，意思相近或並列；but 是轉折，前後意思相反。可以連單字，也可以連整句。連整句時，and / but 前面加逗號。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題提醒：who 後面直接接 be 動詞；how 後面要先接形容詞。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對答案。答錯的地方回到前面的表格再看一次，不要直接跳過。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情境：指著照片問「這是誰」。年紀句型：How old ＋ be ＋ 主詞？回答：主詞 ＋ be ＋ 數字 ＋ years old。兩歲以上 year 要加 s。really 放在形容詞前面加強語氣。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身高句型：主詞 ＋ be ＋ 數字 ＋ centimeters tall。美國人用 feet，1 foot = 30.48 公分，小數點唸 point。最後一句是三個形容詞用逗號和 and 連起來。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先帶學生唸一次，然後讓他用 This is my ＋ 家人 介紹自己家人。英文的 brother 不分哥哥弟弟，uncle 不分伯叔舅姑姨丈。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讚嘆：不用主詞和 be 動詞，一個形容詞加驚嘆號就好。關懷：You look ＋ 形容詞 = 你看起來～。What's wrong? 怎麼了。這些句子直接念、直接記，不用分析文法。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第三章：問「什麼」，還有「這個／那個」，最後是受格。受格對中文母語者是新東西，因為中文「我」不分主格受格，要多花一點時間。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問東西的名稱或人的職業。句型跟 who 一模一樣，只是把 who 換成 what。整理一下：who / how / what 三個疑問詞都放句首，後面都是 be 動詞 ＋ 主詞。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近的用 this，遠的用 that；複數變 these / those。this / that 當第三人稱單數，配 is；these / those 配 are，後面的名詞要加 s。用手指教室裡的東西示範最快。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受格 = 放在動詞後面、「被動作」的那個人。中文「我愛你」「你愛我」的「我」長一樣，英文不一樣：主詞位置用 I，受詞位置用 me。及物動詞 = 後面一定要接受詞的動詞，例如 love、hate。你 you 和它 it 主格受格同形。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題最後一小題：for 是介係詞，後面也要用受格。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對答案。答錯的地方回到前面的表格再看一次，不要直接跳過。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情境：送禮物。a present from me / a present for you 都是「我要送你的禮物」。awesome 是口語的「超棒」。順便帶大寫規則：人名、地名、國名、節日第一個字母大寫。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/ those 的實際用法。How beautiful! 是感嘆句不是問句。可數名詞 vs 不可數名詞先有概念就好：能數的（apple、cat）可以加 s；抽象的（love、friendship）不行。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成對記：nice / bad、pretty / ugly、slim / fat、rich / poor⋯⋯。情緒的形容詞配 be 動詞就能造句：I am happy. 讓學生挑三個形容自己。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＋ 東西。回應三種：You're welcome. / No problem. / My pleasure. I appreciate 後面接事情不接人（appreciate your help ○，appreciate you ✕）。Here is / Here are 看後面名詞單複數。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第四章：問「在哪裡」。be 動詞在這章的意思從「是」變成「在」。介係詞是重點，用教室裡的東西實際比給學生看。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放句首，後面 be 動詞 ＋ 主詞，跟前面三個疑問詞一樣。注意這裡 be 動詞的意思是「在」不是「是」。Where am I? 直譯「我在哪」，其實是問「這是哪裡」。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這六個字後面不用再接名詞，直接放在 be 動詞後面就是完整句子。here / there 最常用，來回比手勢。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介係詞後面一定要接名詞。at 用在小地方、一個「點」：at home、at school；in 用在大範圍、一個「區域」：in Taipei、in Asia。讓學生說 I am at home. / I am in Taiwan.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拿一個杯子和一本書在鏡頭前示範：on the book、under the book、next to the book、in front of、behind、between。一個一個比，讓學生跟著說。the = 特定的、你我都知道的那個東西。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 題可以延伸：讓學生講自己桌上東西的位置。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對答案。答錯的地方回到前面的表格再看一次，不要直接跳過。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情境：住宿守則。四條規則是祈使句：省略 you，動詞原形開頭。對話本身練 Where is ＋ 東西？答 It's ＋ 介係詞 ＋ 地方。I see. / I got it. 都是「了解」。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情境：超市問路。section = 區。樓層一定用 on the ＋ 序數 ＋ floor：on the 2nd floor。Excuse me. 是問路開頭的「不好意思」。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這頁輕鬆帶，用聲音和表情示範，不用背。挑最常用的：Wow、Oops、Ouch、Oh my gosh、Yay。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luck! 最常用，回 Thanks. Good luck to you, too.。旅行前說 Have a nice trip!。這頁一樣直接念、直接記。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收尾用。四章其實只學了一件事：be 動詞句型，加上四個疑問詞。讓學生看著這張表，每一列自己造一句。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基礎英文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6E0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 01 – 04　上課簡報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4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人稱代名詞 · be 動詞 · 疑問詞 · 指示代名詞 · 介係詞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0"/>
            <a:ext cx="7863840" cy="685800"/>
          </a:xfrm>
          <a:prstGeom prst="roundRect">
            <a:avLst>
              <a:gd name="adj" fmla="val 13333"/>
            </a:avLst>
          </a:prstGeom>
          <a:solidFill>
            <a:srgbClr val="2E5484"/>
          </a:solidFill>
          <a:ln w="12700">
            <a:solidFill>
              <a:srgbClr val="2E548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84048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課本翻到 p.33，跟著簡報右上角的頁碼走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今天的路線圖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21615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Hi, I am Sooji.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645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主格代名詞、be 動詞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直述／疑問／否定句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350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p.33–39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05156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5760720" y="121615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Who is this?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760720" y="1645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who、how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所有格、and / but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760720" y="2350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p.43–49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92608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1554480" y="30906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554480" y="3520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what、this / that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受格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554480" y="4224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p.53–59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663440" y="292608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46320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4000" dirty="0"/>
          </a:p>
        </p:txBody>
      </p:sp>
      <p:sp>
        <p:nvSpPr>
          <p:cNvPr id="21" name="Text 18"/>
          <p:cNvSpPr txBox="1"/>
          <p:nvPr/>
        </p:nvSpPr>
        <p:spPr>
          <a:xfrm>
            <a:off x="5760720" y="30906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Where is the laundry basket?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760720" y="3520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where、場所副詞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介係詞 at / in / on…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760720" y="4224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p.63–69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B4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 01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Hi, I am Sooji.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E0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你好，我是守智。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7863840" cy="1600200"/>
          </a:xfrm>
          <a:prstGeom prst="roundRect">
            <a:avLst>
              <a:gd name="adj" fmla="val 5714"/>
            </a:avLst>
          </a:prstGeom>
          <a:solidFill>
            <a:srgbClr val="2E5484"/>
          </a:solidFill>
          <a:ln w="12700">
            <a:solidFill>
              <a:srgbClr val="2E548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B4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這一章要學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6499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人稱代名詞：主格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 動詞：是～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336499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 動詞的直述句和疑問句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 動詞的否定句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86868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p.33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人稱代名詞：主格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p.34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放在句子最前面、當「主詞」用的代名詞，依人稱和數量會有不同型態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1206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097280"/>
                <a:gridCol w="82296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人稱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單數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中譯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複數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中譯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1 人稱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我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we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我們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2 人稱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you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你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you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你們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3 人稱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he / she / it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他 / 她 / 它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they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他們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852160" y="137160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035040" y="151790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035040" y="1874520"/>
            <a:ext cx="2468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第二人稱 you 的單複數同形，要看上下文判斷是「你」還是「你們」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333756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" y="348386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怎麼記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3840480"/>
            <a:ext cx="7863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第一人稱 = 說話的人（我、我們）　第二人稱 = 聽話的人（你、你們）　第三人稱 = 其他人／東西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男生、she 女生、it 東西或動物；三個人以上不管男女全部用 they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 動詞：是～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p.34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表「是～」，放在主詞後面。後面接的字叫「補語」：名字、特徵、外貌、國籍、職業、狀態⋯⋯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57784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1234440"/>
                <a:gridCol w="777240"/>
                <a:gridCol w="178308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主詞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 動詞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補語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中譯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單數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am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Alice.（名字）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我是愛麗絲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You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are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smart.（特徵）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你很聰明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He / She / It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is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cute.（外貌）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他／她／它很可愛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複數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are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Korean.（國籍）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我們是韓國人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You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are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students.（身分）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你們是學生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They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are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hungry.（狀態）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他們餓了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217920" y="1325880"/>
            <a:ext cx="2468880" cy="2697480"/>
          </a:xfrm>
          <a:prstGeom prst="roundRect">
            <a:avLst>
              <a:gd name="adj" fmla="val 3704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400800" y="147218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縮寫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400800" y="1828800"/>
            <a:ext cx="210312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am → I'm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you are → you're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is → he's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she is → she's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 is → it's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 are → we're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they are → they're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口說時幾乎都用縮寫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口訣：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→ am　　he / she / it → is　　其他（you / we / they）→ are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 動詞的直述句和疑問句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p.35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直述句 → 疑問句：把 be 動詞搬到句首，句尾改成問號，其他不變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直述句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645920"/>
            <a:ext cx="1139952" cy="438912"/>
          </a:xfrm>
          <a:prstGeom prst="roundRect">
            <a:avLst>
              <a:gd name="adj" fmla="val 16667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主詞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97152" y="1645920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853184" y="1645920"/>
            <a:ext cx="1139952" cy="438912"/>
          </a:xfrm>
          <a:prstGeom prst="roundRect">
            <a:avLst>
              <a:gd name="adj" fmla="val 16667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 動詞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993136" y="1645920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249168" y="1645920"/>
            <a:ext cx="1139952" cy="438912"/>
          </a:xfrm>
          <a:prstGeom prst="roundRect">
            <a:avLst>
              <a:gd name="adj" fmla="val 16667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補語 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1945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She is pretty.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她很漂亮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They are students.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他們是學生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75488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疑問句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754880" y="1645920"/>
            <a:ext cx="1139952" cy="438912"/>
          </a:xfrm>
          <a:prstGeom prst="roundRect">
            <a:avLst>
              <a:gd name="adj" fmla="val 16667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 動詞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894832" y="1645920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150864" y="1645920"/>
            <a:ext cx="1139952" cy="438912"/>
          </a:xfrm>
          <a:prstGeom prst="roundRect">
            <a:avLst>
              <a:gd name="adj" fmla="val 16667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主詞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290816" y="1645920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546848" y="1645920"/>
            <a:ext cx="1139952" cy="438912"/>
          </a:xfrm>
          <a:prstGeom prst="roundRect">
            <a:avLst>
              <a:gd name="adj" fmla="val 16667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補語 ?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754880" y="21945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 she pretty?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她漂亮嗎？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Are they students?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他們是學生嗎？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57200" y="306324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" y="320954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3566160"/>
            <a:ext cx="3566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She is. 這樣不算完整的句子，be 動詞後面一定要接補語（名字、特徵、外貌、國籍、身分、職業、狀態）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754880" y="306324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937760" y="320954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4937760" y="3566160"/>
            <a:ext cx="3566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Are you Taiwanese?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你是臺灣人嗎？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Yes, I'm Taiwanese.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肯定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No, I'm Japanese.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否定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 動詞的否定句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p.35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be 動詞後面加上 not 就是否定句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肯定句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645920"/>
            <a:ext cx="1139952" cy="438912"/>
          </a:xfrm>
          <a:prstGeom prst="roundRect">
            <a:avLst>
              <a:gd name="adj" fmla="val 16667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主詞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97152" y="1645920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853184" y="1645920"/>
            <a:ext cx="1139952" cy="438912"/>
          </a:xfrm>
          <a:prstGeom prst="roundRect">
            <a:avLst>
              <a:gd name="adj" fmla="val 16667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 動詞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993136" y="1645920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249168" y="1645920"/>
            <a:ext cx="1139952" cy="438912"/>
          </a:xfrm>
          <a:prstGeom prst="roundRect">
            <a:avLst>
              <a:gd name="adj" fmla="val 16667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補語 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1945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 is small.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這個很小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am a singer.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我是歌手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75488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否定句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754880" y="1645920"/>
            <a:ext cx="790956" cy="438912"/>
          </a:xfrm>
          <a:prstGeom prst="roundRect">
            <a:avLst>
              <a:gd name="adj" fmla="val 16667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主詞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545836" y="1645920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801868" y="1645920"/>
            <a:ext cx="790956" cy="438912"/>
          </a:xfrm>
          <a:prstGeom prst="roundRect">
            <a:avLst>
              <a:gd name="adj" fmla="val 16667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 動詞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592824" y="1645920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848856" y="1645920"/>
            <a:ext cx="790956" cy="438912"/>
          </a:xfrm>
          <a:prstGeom prst="roundRect">
            <a:avLst>
              <a:gd name="adj" fmla="val 16667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639812" y="1645920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895844" y="1645920"/>
            <a:ext cx="790956" cy="438912"/>
          </a:xfrm>
          <a:prstGeom prst="roundRect">
            <a:avLst>
              <a:gd name="adj" fmla="val 16667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補語 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1945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 is not small.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這個不小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am not a singer.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我不是歌手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301752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3163824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兩種縮寫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3520440"/>
            <a:ext cx="78638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38328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301752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原句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縮寫 ①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縮寫 ②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 am not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I'm not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F6B7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（沒有 amn't）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you are not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you're not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you aren't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he / she / it is not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he's not / she's not / it's not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he isn't / she isn't / it isn't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we / they are not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we're not / they're not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we aren't / they aren't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你來試試 · Chapter 01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51560"/>
            <a:ext cx="3977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填入 am / is / are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___ a student.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She ___ pretty.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They ___ hungry.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 ___ small.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改成疑問句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is a doctor.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They are students.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709160" y="1051560"/>
            <a:ext cx="3977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改成否定句（用縮寫）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She is Korean.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am a singer.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回答自己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Where are you from?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你來試試 · Chapter 01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解答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51560"/>
            <a:ext cx="3977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填入 am / is / are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</a:t>
            </a: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am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a student.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She </a:t>
            </a: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pretty.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They </a:t>
            </a: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are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hungry.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 </a:t>
            </a: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small.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改成疑問句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is a doctor.</a:t>
            </a: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→ Is he a doctor?</a:t>
            </a:r>
            <a:pPr indent="0" marL="0">
              <a:spcAft>
                <a:spcPts val="500"/>
              </a:spcAft>
              <a:buNone/>
            </a:pP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They are students.</a:t>
            </a: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→ Are they students?</a:t>
            </a:r>
            <a:pPr indent="0" marL="0">
              <a:spcAft>
                <a:spcPts val="500"/>
              </a:spcAft>
              <a:buNone/>
            </a:pP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709160" y="1051560"/>
            <a:ext cx="3977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改成否定句（用縮寫）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She is Korean.</a:t>
            </a: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→ She isn't Korean. / She's not Korean.</a:t>
            </a:r>
            <a:pPr indent="0" marL="0">
              <a:spcAft>
                <a:spcPts val="500"/>
              </a:spcAft>
              <a:buNone/>
            </a:pP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am a singer.</a:t>
            </a: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→ I'm not a singer.</a:t>
            </a:r>
            <a:pPr indent="0" marL="0">
              <a:spcAft>
                <a:spcPts val="500"/>
              </a:spcAft>
              <a:buNone/>
            </a:pP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回答自己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Where are you from?</a:t>
            </a: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→ I'm from Taiwan. / I'm Taiwanese.</a:t>
            </a:r>
            <a:pPr indent="0" marL="0">
              <a:spcAft>
                <a:spcPts val="500"/>
              </a:spcAft>
              <a:buNone/>
            </a:pP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對話 1　Nice to meet you.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p.36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6012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Sooji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Hi, I'm Sooji.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你好！我是守智。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Justin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Hi, I'm Justin.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你好！我是賈斯汀。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Sooji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Nice to meet you, Justin.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很高興認識你，賈斯汀。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Justin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Nice to meet you, too. Are you a student, Sooji?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我也很高興認識你。守智，你是學生嗎？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Sooji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Yes. How about you?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是的。你呢？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Justin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I'm a doctor.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我是醫生。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577840" y="960120"/>
            <a:ext cx="3108960" cy="1737360"/>
          </a:xfrm>
          <a:prstGeom prst="roundRect">
            <a:avLst>
              <a:gd name="adj" fmla="val 526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60720" y="110642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新用法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1463040"/>
            <a:ext cx="27432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Nice to meet you.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很高興認識你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about you?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你呢？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Yes.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是的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Nice 可換成 Great / Happy；How about you? 可換成 What about you?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2834640"/>
            <a:ext cx="3108960" cy="1874520"/>
          </a:xfrm>
          <a:prstGeom prst="roundRect">
            <a:avLst>
              <a:gd name="adj" fmla="val 4878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60720" y="298094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760720" y="3337560"/>
            <a:ext cx="2743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說職業前面要加 a / an：I'm a doctor.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too（也）放在句尾：I am a student, too.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單字：nice 美好的 / meet 認識 / too 也 / student 學生 / doctor 醫生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對話 2　Where are you from?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p.37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6012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Elise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Hi, I'm Elise.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你好，我是伊莉絲。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Carlo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Nice to meet you, Elise. Are you American?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很高興認識你，伊莉絲。你是美國人嗎？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Elise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Yes, I'm American. Where are you from?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是的，我是美國人。你來自哪裡？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Carlo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I'm from Italy. Justin, are you American, too?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我來自義大利。賈斯汀，你也是美國人嗎？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Justin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No, I'm not. I'm Canadian.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不，我不是。我是加拿大人。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3657600"/>
            <a:ext cx="4937760" cy="1051560"/>
          </a:xfrm>
          <a:prstGeom prst="roundRect">
            <a:avLst>
              <a:gd name="adj" fmla="val 8696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80390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16052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國名、國籍第一個字母大寫：Italy / Italian、Japan / Japanese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No, I'm not. = No, I'm not American.　重複的字省略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960120"/>
            <a:ext cx="3108960" cy="3749040"/>
          </a:xfrm>
          <a:prstGeom prst="roundRect">
            <a:avLst>
              <a:gd name="adj" fmla="val 294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60720" y="110642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問國籍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760720" y="1463040"/>
            <a:ext cx="274320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Where are you from?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你來自哪裡？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 ①　I'm from ＋ 國家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I'm from Korea.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I'm from Canada.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 ②　I'm ＋ 國籍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I'm Korean.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I'm Canadian.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where 哪裡 / from 來自 / Italy 義大利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單字補給站　國名、國籍、職業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p.38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45720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91640"/>
                <a:gridCol w="16916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地區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國名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國籍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亞洲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Korea 韓國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Korean 韓國人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Japan 日本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Japanese 日本人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China 中國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Chinese 中國人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歐洲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France 法國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French 法國人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Germany 德國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German 德國人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美洲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the U.S.A. 美國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American 美國人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Canada 加拿大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Canadian 加拿大人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大洋洲／非洲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Australia 澳洲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Australian 澳洲人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South Africa 南非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South African 南非人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303520" y="960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職業</a:t>
            </a:r>
            <a:endParaRPr lang="en-US" sz="13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280160"/>
          <a:ext cx="33832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48640"/>
                <a:gridCol w="1188720"/>
                <a:gridCol w="5486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單字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中譯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單字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中譯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cook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廚師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mail carrier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郵差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farmer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農夫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police officer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警察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painter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畫家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firefighter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消防員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businessman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商人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civil servant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公務員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303520" y="3063240"/>
            <a:ext cx="3383280" cy="1645920"/>
          </a:xfrm>
          <a:prstGeom prst="roundRect">
            <a:avLst>
              <a:gd name="adj" fmla="val 555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5486400" y="320954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5486400" y="3566160"/>
            <a:ext cx="30175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說自己是上班族，比 I'm a civil servant. 更自然的講法：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work for a company.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我是上班族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work for the government.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我是公務員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實用表達法　見面和道別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p.39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960120"/>
            <a:ext cx="3931920" cy="2194560"/>
          </a:xfrm>
          <a:prstGeom prst="roundRect">
            <a:avLst>
              <a:gd name="adj" fmla="val 416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10642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見面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356616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Good morning.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早安（早上）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Good afternoon.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午安（下午）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Good evening.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晚上好（傍晚見面）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Hi. / Hello.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朋友之間、一般場合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960120"/>
            <a:ext cx="3931920" cy="2194560"/>
          </a:xfrm>
          <a:prstGeom prst="roundRect">
            <a:avLst>
              <a:gd name="adj" fmla="val 416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37760" y="110642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道別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1463040"/>
            <a:ext cx="356616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Bye.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再見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Take care.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保重　→ 可回 You too.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See you later.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下次再見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Good night.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晚安（道別、睡前）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329184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43814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3794760"/>
            <a:ext cx="78638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Good evening. 是「晚上見面」時說的，常用在餐廳、演講等正式場合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Good night. 是「晚上道別」或睡前說的，不是打招呼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B4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 02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Who is this?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E0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這個人是誰？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7863840" cy="1600200"/>
          </a:xfrm>
          <a:prstGeom prst="roundRect">
            <a:avLst>
              <a:gd name="adj" fmla="val 5714"/>
            </a:avLst>
          </a:prstGeom>
          <a:solidFill>
            <a:srgbClr val="2E5484"/>
          </a:solidFill>
          <a:ln w="12700">
            <a:solidFill>
              <a:srgbClr val="2E548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B4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這一章要學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6499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疑問代名詞 who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疑問副詞 how：狀態・程度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336499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人稱代名詞：所有格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連接詞 and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86868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p.43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疑問代名詞 who：誰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p.44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05840"/>
            <a:ext cx="1475232" cy="457200"/>
          </a:xfrm>
          <a:prstGeom prst="roundRect">
            <a:avLst>
              <a:gd name="adj" fmla="val 16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Who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932432" y="1005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2188464" y="1005840"/>
            <a:ext cx="1475232" cy="457200"/>
          </a:xfrm>
          <a:prstGeom prst="roundRect">
            <a:avLst>
              <a:gd name="adj" fmla="val 16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 動詞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663696" y="1005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919728" y="1005840"/>
            <a:ext cx="1475232" cy="457200"/>
          </a:xfrm>
          <a:prstGeom prst="roundRect">
            <a:avLst>
              <a:gd name="adj" fmla="val 16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（代）名詞 ?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49377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92024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例句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中譯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單數 → is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Who is she?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她是誰？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Who is the girl?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那女孩是誰？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複數 → are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Who are they?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他們是誰？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Who are the girls?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那些女孩是誰？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you 都用 are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Who are you?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你是誰？／你們是誰？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669280" y="1005840"/>
            <a:ext cx="3017520" cy="1691640"/>
          </a:xfrm>
          <a:prstGeom prst="roundRect">
            <a:avLst>
              <a:gd name="adj" fmla="val 540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852160" y="115214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5852160" y="1508760"/>
            <a:ext cx="2651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who、how 開頭的問句，主詞和 be 動詞要對調，變成「be 動詞 ＋ 主詞」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669280" y="28346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852160" y="298094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5852160" y="3337560"/>
            <a:ext cx="26517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複數名詞 = 單數名詞 ＋ 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girl → girls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女孩們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boy → boys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男孩們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疑問副詞 how：多～？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p.45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表「多少、如何」，後面接表狀態或程度的形容詞，用來問主詞「多～」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71600"/>
            <a:ext cx="1865376" cy="457200"/>
          </a:xfrm>
          <a:prstGeom prst="roundRect">
            <a:avLst>
              <a:gd name="adj" fmla="val 16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2322576" y="13716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2578608" y="1371600"/>
            <a:ext cx="1865376" cy="457200"/>
          </a:xfrm>
          <a:prstGeom prst="roundRect">
            <a:avLst>
              <a:gd name="adj" fmla="val 16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形容詞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443984" y="13716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00016" y="1371600"/>
            <a:ext cx="1865376" cy="457200"/>
          </a:xfrm>
          <a:prstGeom prst="roundRect">
            <a:avLst>
              <a:gd name="adj" fmla="val 16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 動詞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565392" y="13716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821424" y="1371600"/>
            <a:ext cx="1865376" cy="457200"/>
          </a:xfrm>
          <a:prstGeom prst="roundRect">
            <a:avLst>
              <a:gd name="adj" fmla="val 16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主詞 ?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210312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tall is she?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她有多高？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heavy is he?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他有多重？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smart is the boy?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那男孩有多聰明？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669280" y="2103120"/>
            <a:ext cx="3017520" cy="2468880"/>
          </a:xfrm>
          <a:prstGeom prst="roundRect">
            <a:avLst>
              <a:gd name="adj" fmla="val 370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0" y="224942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常用形容詞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852160" y="2606040"/>
            <a:ext cx="26517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tall 高的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heavy 重的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old 老的、幾歲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smart 聰明的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long 長的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big 大的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931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下一頁對話會看到：How old is she?（幾歲）、How tall is she?（多高）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人稱代名詞：所有格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p.45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所有格表「～的」，不能單獨用，後面一定要接名詞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5778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1097280"/>
                <a:gridCol w="1280160"/>
                <a:gridCol w="13716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人稱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主格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所有格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主格（複數）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所有格（複數）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1 人稱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 我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my 我的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we 我們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our 我們的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2 人稱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you 你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your 你的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you 你們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your 你們的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3 人稱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he 他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his 他的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they 他們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their 他們的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she 她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her 她的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it 它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its 它的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217920" y="1325880"/>
            <a:ext cx="2468880" cy="160020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400800" y="147218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例句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400800" y="1828800"/>
            <a:ext cx="2103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is my brother.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他是我弟弟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Your sister is pretty.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你姐姐很漂亮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17920" y="3063240"/>
            <a:ext cx="2468880" cy="160020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0" y="320954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名詞的所有格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6400800" y="3566160"/>
            <a:ext cx="2103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名詞 ＋ 's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baby's smile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寶寶的笑容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girl's book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那女孩的書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1605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注意：his / her 前面不加 the，直接接名詞：his book（○）the his book（✕）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連接詞 and / but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p.45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152144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　和、而且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08760"/>
            <a:ext cx="356616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girl and the boy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那女孩和那男孩（連單字）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is handsome, and she is smart.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他很英俊，而她很聰明（連句子）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00584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37760" y="1152144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but　但是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1508760"/>
            <a:ext cx="356616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前後意思相反、轉折時用 but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is handsome, but he isn't smart.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他很英俊，但是不聰明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320040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34670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三個以上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3703320"/>
            <a:ext cx="78638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連接兩個以上的形容詞，只要在最後一個前面加 and，中間用逗號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She is beautiful, slim, and cute.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她漂亮、苗條又可愛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你來試試 · Chapter 02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51560"/>
            <a:ext cx="3977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填所有格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This is (I) ___ book.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That is (she) ___ brother.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(they) ___ house is big.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填 Who 或 How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___ is she?（誰）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___ old is he?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___ tall is the boy?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709160" y="1051560"/>
            <a:ext cx="3977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填 and 或 but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is tall, ___ she is short.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She is kind ___ smart.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改成名詞所有格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smile of the baby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你來試試 · Chapter 02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解答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51560"/>
            <a:ext cx="3977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填所有格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This is (I) </a:t>
            </a: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my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book.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That is (she) </a:t>
            </a: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her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brother.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(they) </a:t>
            </a: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Their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house is big.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填 Who 或 How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Who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is she?（誰）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old is he?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tall is the boy?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709160" y="1051560"/>
            <a:ext cx="3977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填 and 或 but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is tall, </a:t>
            </a: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but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she is short.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She is kind </a:t>
            </a: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smart.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改成名詞所有格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smile of the baby</a:t>
            </a: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→ the baby's smile</a:t>
            </a:r>
            <a:pPr indent="0" marL="0">
              <a:spcAft>
                <a:spcPts val="500"/>
              </a:spcAft>
              <a:buNone/>
            </a:pP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對話 1　Who is this? / How old is she?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p.46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6012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Carlo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Who is this?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這是誰？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Elise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is Joshua. He is my brother.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他是約書亞，是我的弟弟。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Carlo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is really cute. Who is this?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他真可愛。這是誰？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Elise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She is Anna. She is my sister.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她是安娜，是我的妹妹。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Carlo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old is she?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她幾歲？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Elise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She is fifteen years old.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她十五歲。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577840" y="960120"/>
            <a:ext cx="3108960" cy="1965960"/>
          </a:xfrm>
          <a:prstGeom prst="roundRect">
            <a:avLst>
              <a:gd name="adj" fmla="val 465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60720" y="110642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問年紀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1463040"/>
            <a:ext cx="27432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old is she?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她幾歲？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She is fifteen years old.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她十五歲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 year old　→　two years old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兩歲以上 year 加 s；也可以只回答數字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3063240"/>
            <a:ext cx="3108960" cy="1645920"/>
          </a:xfrm>
          <a:prstGeom prst="roundRect">
            <a:avLst>
              <a:gd name="adj" fmla="val 5556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60720" y="320954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760720" y="3566160"/>
            <a:ext cx="27432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really（非常）放在形容詞前面加強：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is cute. → He is really cute.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brother 哥哥／弟弟 · sister 姐姐／妹妹 · cute 可愛的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對話 2　How tall is she?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p.47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6012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Justin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Who is that?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那個人是誰？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Sooji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Yuri. She is a K-pop teen idol.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俞利。她是韓國的偶像歌手。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Justin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She is beautiful. How tall is she?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真漂亮。她有多高？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Sooji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She is 167 centimeters tall. So she is around 5.5 feet.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167 公分。所以大約是 5.5 呎高。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Justin　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She is beautiful, slim, and cute.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她長得漂亮、苗條又可愛。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3794760"/>
            <a:ext cx="4937760" cy="914400"/>
          </a:xfrm>
          <a:prstGeom prst="roundRect">
            <a:avLst>
              <a:gd name="adj" fmla="val 10000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94106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297680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this 這個（近）／ that 那個（遠）；5.5 唸 five point five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960120"/>
            <a:ext cx="3108960" cy="3749040"/>
          </a:xfrm>
          <a:prstGeom prst="roundRect">
            <a:avLst>
              <a:gd name="adj" fmla="val 294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60720" y="110642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問身高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760720" y="1463040"/>
            <a:ext cx="274320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tall is she?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她有多高？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She is 167 centimeters tall.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她 167 公分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She is around 5.5 feet.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她大約 5.5 呎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teen idol 偶像 · beautiful 漂亮的 · tall 高的 · centimeter 公分（cm）· so 所以 · around 大約 · feet 呎（foot 複數）· slim 苗條的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單字補給站　家庭成員名稱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p.48</a:t>
            </a: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47548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6517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grandfather / grandpa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爺爺；外公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grandmother / grandma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奶奶；外婆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father / dad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父親；爸爸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mother / mom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母親；媽媽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uncle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伯伯、叔叔、舅舅、姑丈、姨丈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aunt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伯母、嬸嬸、姑姑、阿姨、舅媽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brother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哥哥；弟弟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sister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姐姐；妹妹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cousin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堂／表兄弟姐妹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960120"/>
          <a:ext cx="32918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7373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grandparents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（外）祖父母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parents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父母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husband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先生、丈夫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wife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太太、妻子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son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兒子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daughter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女兒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grandson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孫子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granddaughter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孫女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nephew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姪子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niece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姪女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457200" y="4297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練習：This is my ______.　用自己家人造句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實用表達法　讚嘆與關懷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p.49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960120"/>
            <a:ext cx="3931920" cy="3703320"/>
          </a:xfrm>
          <a:prstGeom prst="roundRect">
            <a:avLst>
              <a:gd name="adj" fmla="val 2469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10642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表達讚嘆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356616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Fantastic!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太棒了！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Absolutely gorgeous!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真是太美了！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省略「主詞 ＋ be 動詞」，形容詞加驚嘆號就好：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Amazing!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太驚人了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Excellent!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太出色了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Great!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非常好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Beautiful!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太漂亮了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Wonderful!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太棒了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960120"/>
            <a:ext cx="3931920" cy="3703320"/>
          </a:xfrm>
          <a:prstGeom prst="roundRect">
            <a:avLst>
              <a:gd name="adj" fmla="val 2469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37760" y="110642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表達關懷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1463040"/>
            <a:ext cx="356616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You look down today. What's wrong?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你今天看起來心情不好。怎麼了？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finally broke up with my boyfriend.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我終於和男友分手了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其他問法：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 there something wrong?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出了什麼事嗎？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What's the matter?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發生了什麼事？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Are you okay?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你還好嗎？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You look ＋ 形容詞 = 你看起來～　You look happy.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B4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 03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is this?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E0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這是什麼？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7863840" cy="1600200"/>
          </a:xfrm>
          <a:prstGeom prst="roundRect">
            <a:avLst>
              <a:gd name="adj" fmla="val 5714"/>
            </a:avLst>
          </a:prstGeom>
          <a:solidFill>
            <a:srgbClr val="2E5484"/>
          </a:solidFill>
          <a:ln w="12700">
            <a:solidFill>
              <a:srgbClr val="2E548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B4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這一章要學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6499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疑問代名詞 what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指示代名詞 this, that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336499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人稱代名詞：受格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86868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p.53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疑問代名詞 what：什麼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p.54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05840"/>
            <a:ext cx="1475232" cy="457200"/>
          </a:xfrm>
          <a:prstGeom prst="roundRect">
            <a:avLst>
              <a:gd name="adj" fmla="val 16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932432" y="1005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2188464" y="1005840"/>
            <a:ext cx="1475232" cy="457200"/>
          </a:xfrm>
          <a:prstGeom prst="roundRect">
            <a:avLst>
              <a:gd name="adj" fmla="val 16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 動詞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663696" y="1005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919728" y="1005840"/>
            <a:ext cx="1475232" cy="457200"/>
          </a:xfrm>
          <a:prstGeom prst="roundRect">
            <a:avLst>
              <a:gd name="adj" fmla="val 16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（代）名詞 ?</a:t>
            </a:r>
            <a:endParaRPr lang="en-US" sz="1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49377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92024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例句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中譯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單數 → is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What is this?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這是什麼？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What is her name?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她叫什麼名字？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複數 → are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What are these?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這些是什麼？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What are those?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那些是什麼？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669280" y="1005840"/>
            <a:ext cx="3017520" cy="3657600"/>
          </a:xfrm>
          <a:prstGeom prst="roundRect">
            <a:avLst>
              <a:gd name="adj" fmla="val 3030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852160" y="115214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整理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5852160" y="1508760"/>
            <a:ext cx="2651760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who、how、what 三個疑問詞的共同點：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放在句首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「主詞 ＋ be 動詞」對調成「be 動詞 ＋ 主詞」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Who is she?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誰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tall is she?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多～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is this?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什麼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指示代名詞 this / that / these / those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p.54</a:t>
            </a:r>
            <a:endParaRPr lang="en-US" sz="1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338328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單數（1 個）→ is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複數（2 個以上）→ are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　靠近說話者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this  這個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these  這些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This is my car.　這是我的車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These are my cars.　這些是我的車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遠　離說話者遠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that  那個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those  那些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That is my car.　那是我的車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Those are my cars.　那些是我的車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38328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40080" y="352958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3886200"/>
            <a:ext cx="3566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this / that 算第三人稱單數 → 接 is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these / those 是複數 → 接 are，名詞加 (e)s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754880" y="338328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937760" y="352958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問句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4937760" y="3886200"/>
            <a:ext cx="3566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is this?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這是什麼？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are those?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那些是什麼？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人稱代名詞：受格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p.55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60120"/>
            <a:ext cx="2572512" cy="438912"/>
          </a:xfrm>
          <a:prstGeom prst="roundRect">
            <a:avLst>
              <a:gd name="adj" fmla="val 16667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主詞（主格）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029712" y="960120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285744" y="960120"/>
            <a:ext cx="2572512" cy="438912"/>
          </a:xfrm>
          <a:prstGeom prst="roundRect">
            <a:avLst>
              <a:gd name="adj" fmla="val 16667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及物動詞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858256" y="960120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114288" y="960120"/>
            <a:ext cx="2572512" cy="438912"/>
          </a:xfrm>
          <a:prstGeom prst="roundRect">
            <a:avLst>
              <a:gd name="adj" fmla="val 16667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受詞（受格）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5087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love you.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我愛你　→ I 主格、you 受格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You love me.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你愛我　→ You 主格、me 受格</a:t>
            </a:r>
            <a:endParaRPr lang="en-US" sz="1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521208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051560"/>
                <a:gridCol w="1188720"/>
                <a:gridCol w="1051560"/>
                <a:gridCol w="10515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人稱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主格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受格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主格（複數）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受格（複數）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1 人稱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us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2 人稱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you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you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you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you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3 人稱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he / she / it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him / her / it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they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them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852160" y="1508760"/>
            <a:ext cx="2834640" cy="1463040"/>
          </a:xfrm>
          <a:prstGeom prst="roundRect">
            <a:avLst>
              <a:gd name="adj" fmla="val 6250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035040" y="165506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6035040" y="2011680"/>
            <a:ext cx="24688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中文的「我」沒有主格受格之分，英文要分 I 和 me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受詞是普通名詞則不變：I love Lisa.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852160" y="3108960"/>
            <a:ext cx="2834640" cy="1554480"/>
          </a:xfrm>
          <a:prstGeom prst="roundRect">
            <a:avLst>
              <a:gd name="adj" fmla="val 588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035040" y="325526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6035040" y="3611880"/>
            <a:ext cx="24688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不及物動詞：後面不用接受詞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sleep.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我睡覺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laugh.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我笑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2062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介係詞（to / from / for）後面接代名詞也用受格：for him、from me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你來試試 · Chapter 03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51560"/>
            <a:ext cx="3977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填 this / that / these / those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___ is my car.（近，一台）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___ are my cars.（遠，很多台）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填受格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love (she) ___.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She loves (I) ___.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 love (they) ___.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This present is for (he) ___.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709160" y="1051560"/>
            <a:ext cx="3977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填疑問詞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___ is this?（什麼）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___ is she?（誰）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改成正確大小寫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korea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christmas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你來試試 · Chapter 03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解答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51560"/>
            <a:ext cx="3977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填 this / that / these / those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This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is my car.（近，一台）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Those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are my cars.（遠，很多台）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填受格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love (she) </a:t>
            </a: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her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She loves (I) </a:t>
            </a: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 love (they) </a:t>
            </a: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them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This present is for (he) </a:t>
            </a: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him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709160" y="1051560"/>
            <a:ext cx="3977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填疑問詞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is this?（什麼）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Who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is she?（誰）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改成正確大小寫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korea</a:t>
            </a: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→ Korea</a:t>
            </a:r>
            <a:pPr indent="0" marL="0">
              <a:spcAft>
                <a:spcPts val="500"/>
              </a:spcAft>
              <a:buNone/>
            </a:pP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christmas</a:t>
            </a: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→ Christmas</a:t>
            </a:r>
            <a:pPr indent="0" marL="0">
              <a:spcAft>
                <a:spcPts val="500"/>
              </a:spcAft>
              <a:buNone/>
            </a:pP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對話 1　What is this?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p.56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6012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Eric　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is this?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這是什麼？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Sooji　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This is "Taegeuksun." It's a Korean fan. It is a present from me.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這是太極扇，韓國的扇子。這是我要送你的禮物。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Eric　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Thank you, Sooji. It is really beautiful. What is that?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謝謝，守智。這個真漂亮。那是什麼？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Sooji　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That is a Korean mask. It's my present for you, too.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那是韓國的面具。那也是我要送你的禮物。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Eric　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Really? Thank you. It's awesome.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真的嗎？謝謝，好棒喔！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577840" y="960120"/>
            <a:ext cx="3108960" cy="182880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60720" y="110642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新用法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1463040"/>
            <a:ext cx="27432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 is a present from me.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這是我送你的禮物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Really?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真的嗎？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It's awesome.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超棒的（口語）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awesome ≈ great / cool / fantastic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2926080"/>
            <a:ext cx="3108960" cy="1783080"/>
          </a:xfrm>
          <a:prstGeom prst="roundRect">
            <a:avLst>
              <a:gd name="adj" fmla="val 5128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60720" y="307238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大寫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760720" y="3429000"/>
            <a:ext cx="2743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第一個字母要大寫：人名、地名、國名、國籍、語言、節日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Kevin · New York · Korea · Korean · Christmas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fan 扇子 · present 禮物 · mask 面具 · for 為了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對話 2　What are these?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p.57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6012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Carlo　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beautiful! What are these?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好漂亮喔！這些是什麼？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Asako　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These are origami flowers.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這些是摺紙花。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Carlo　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are those?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那些是什麼？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Asako　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Those are origami cranes.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那些是紙鶴。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Carlo　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is origami?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什麼是摺紙？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Asako　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It's a traditional Japanese craft.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是一種傳統的日本手工藝。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Carlo　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That is amazing.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真是令人驚奇。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577840" y="960120"/>
            <a:ext cx="3108960" cy="1645920"/>
          </a:xfrm>
          <a:prstGeom prst="roundRect">
            <a:avLst>
              <a:gd name="adj" fmla="val 555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60720" y="110642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感嘆句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1463040"/>
            <a:ext cx="27432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＋ 形容詞！　不是問句，是「好～啊！」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beautiful!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好漂亮啊！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awesome!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好厲害啊！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2743200"/>
            <a:ext cx="3108960" cy="1965960"/>
          </a:xfrm>
          <a:prstGeom prst="roundRect">
            <a:avLst>
              <a:gd name="adj" fmla="val 4651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60720" y="288950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名詞分兩種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760720" y="3246120"/>
            <a:ext cx="27432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可數：數得出來，可加 s　apple、cat、flower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不可數：抽象、專有名詞　love、friendship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origami 摺紙 · crane 鶴 · traditional 傳統的 · craft 手工藝 · amazing 驚人的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單字補給站　形容詞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p.58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外貌、個性、狀態（成對記）</a:t>
            </a:r>
            <a:endParaRPr lang="en-US" sz="13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2062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051560"/>
                <a:gridCol w="10515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相反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nice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親切的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bad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壞的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pretty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美麗的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ugly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醜的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slim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苗條的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fat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胖的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kind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和善的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unkind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不和善的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rich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富有的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poor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貧窮的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tall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高大的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small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矮小的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young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年輕的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old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年老的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cheerful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開朗的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serious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嚴肅的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healthy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健康的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sick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生病的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93776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</a:t>
            </a:r>
            <a:endParaRPr lang="en-US" sz="1300" dirty="0"/>
          </a:p>
        </p:txBody>
      </p:sp>
      <p:graphicFrame>
        <p:nvGraphicFramePr>
          <p:cNvPr id="6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234440"/>
          <a:ext cx="374904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868680"/>
                <a:gridCol w="109728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正面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負面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happy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快樂的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sad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難過的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excited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興奮的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gloomy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憂鬱的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interested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感興趣的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worried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憂心的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proud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自豪的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anxious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焦慮的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confident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有信心的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disappointed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失望的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satisfied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滿意的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lonely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孤單的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4937760" y="3291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練習：I am ______.　挑三個形容今天的自己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實用表達法　表達感謝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p.59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96012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10642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說謝謝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356616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Thank you for the present.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謝謝你的禮物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appreciate your help.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謝謝你的幫忙（較正式）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Thank you very much.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非常感謝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appreciate 後面接事情（your help / your time），不接人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96012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37760" y="110642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回應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1463040"/>
            <a:ext cx="356616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You're welcome.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不客氣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 problem.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沒什麼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(It's) my pleasure.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我的榮幸 → 不客氣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I'm glad you like it.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很高興你喜歡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38328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529584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Here is / Here are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3886200"/>
            <a:ext cx="7863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把東西遞給別人時說。be 動詞看後面的名詞：單數 is、複數 are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Here is an apple.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這裡有顆蘋果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Here are your books.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這些是你的書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B4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 04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Where is the laundry basket?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E0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洗衣籃在哪裡？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7863840" cy="1600200"/>
          </a:xfrm>
          <a:prstGeom prst="roundRect">
            <a:avLst>
              <a:gd name="adj" fmla="val 5714"/>
            </a:avLst>
          </a:prstGeom>
          <a:solidFill>
            <a:srgbClr val="2E5484"/>
          </a:solidFill>
          <a:ln w="12700">
            <a:solidFill>
              <a:srgbClr val="2E548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B4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這一章要學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6499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疑問副詞 where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表達場所的副詞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336499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介係詞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86868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p.63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疑問副詞 where：在哪裡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p.64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05840"/>
            <a:ext cx="1475232" cy="457200"/>
          </a:xfrm>
          <a:prstGeom prst="roundRect">
            <a:avLst>
              <a:gd name="adj" fmla="val 16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Where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932432" y="1005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2188464" y="1005840"/>
            <a:ext cx="1475232" cy="457200"/>
          </a:xfrm>
          <a:prstGeom prst="roundRect">
            <a:avLst>
              <a:gd name="adj" fmla="val 16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 動詞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663696" y="1005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919728" y="1005840"/>
            <a:ext cx="1475232" cy="457200"/>
          </a:xfrm>
          <a:prstGeom prst="roundRect">
            <a:avLst>
              <a:gd name="adj" fmla="val 16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主詞 ?</a:t>
            </a:r>
            <a:endParaRPr lang="en-US" sz="14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49377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例句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中譯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單數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Where am I?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這是哪裡？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Where is he?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他在哪裡？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複數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Where are they?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他們在哪裡？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Where are the students?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學生們在哪裡？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669280" y="1005840"/>
            <a:ext cx="3017520" cy="1691640"/>
          </a:xfrm>
          <a:prstGeom prst="roundRect">
            <a:avLst>
              <a:gd name="adj" fmla="val 540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852160" y="115214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5852160" y="1508760"/>
            <a:ext cx="2651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前面學的 be 動詞是「是～」，這裡的 be 動詞是「在（某地）」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She is over there.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她在那裡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669280" y="28346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852160" y="298094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5852160" y="3337560"/>
            <a:ext cx="26517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Where am I? 直譯「我在哪裡？」，實際是問「這是哪裡？」，迷路時用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表達場所、地點的副詞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p.64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直接接在 be 動詞後面，不用再接名詞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463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here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20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這裡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46120" y="137160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29000" y="1463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there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3429000" y="1920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那裡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35040" y="137160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0" y="1463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up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1920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往上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51460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down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3063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往下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246120" y="251460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429000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far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3429000" y="3063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遠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035040" y="251460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217920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near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6217920" y="3063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am here.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我在這裡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is there.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他在那裡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She is over there.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她在那邊（比 there 更遠一點）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介係詞 ①　表示場所：at / in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p.65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介係詞後面接名詞，用來說明「在哪裡」。at 用於小地點，in 用於大範圍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517904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at　小地點、一個「點」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874520"/>
            <a:ext cx="356616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at work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在工作、在上班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at school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在學校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at home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在家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54880" y="137160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37760" y="1517904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　大範圍、一個「區域」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1874520"/>
            <a:ext cx="356616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 Asia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在亞洲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 Korea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在韓國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 Seoul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在首爾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Where is Eric?　—　He's at home.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艾瑞克在哪裡？他在家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am in Taiwan. I am at school.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我在臺灣。我在學校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介係詞 ②　表示位置：on / under / behind…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p.65</a:t>
            </a:r>
            <a:endParaRPr lang="en-US" sz="11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57607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051560"/>
                <a:gridCol w="1965960"/>
                <a:gridCol w="11430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介係詞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意思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例子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在～上面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on the desk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在書桌上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under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在～下面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under the desk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在書桌下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在～裡面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 the refrigerator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在冰箱裡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 front of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在～前面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 front of the chair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在椅子前面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behind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在～後面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behind the chair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在椅子後面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next to / by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在～旁邊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next to the clock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在時鐘旁邊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between A and B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 A 和 B 之間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between the cup and the clock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在杯子和時鐘之間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400800" y="96012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583680" y="110642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還有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6583680" y="1463040"/>
            <a:ext cx="19202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over 在～上方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below 在～下面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p.65 有圖，對照看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400800" y="2926080"/>
            <a:ext cx="2286000" cy="1737360"/>
          </a:xfrm>
          <a:prstGeom prst="roundRect">
            <a:avLst>
              <a:gd name="adj" fmla="val 5263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583680" y="307238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6583680" y="3429000"/>
            <a:ext cx="19202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定冠詞，放名詞前面，指「特定的、你我都知道的」那個東西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desk = 那張桌子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1605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介係詞後面一定要接具體的名詞：on the desk（○）on（✕）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你來試試 · Chapter 04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51560"/>
            <a:ext cx="3977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填 Where ＋ be 動詞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___ ___ he?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___ ___ the students?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填 at 或 in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___ home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___ Korea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___ school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___ Asia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709160" y="1051560"/>
            <a:ext cx="3977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用英文說位置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書在桌子上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蘋果在冰箱裡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貓在椅子後面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時鐘在杯子旁邊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樓層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在三樓：on the ___ floor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你來試試 · Chapter 04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解答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51560"/>
            <a:ext cx="3977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填 Where ＋ be 動詞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Where is he?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Where are the students?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填 at 或 in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at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home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Korea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at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school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Asia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709160" y="1051560"/>
            <a:ext cx="3977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用英文說位置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書在桌子上</a:t>
            </a: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→ on the desk</a:t>
            </a:r>
            <a:pPr indent="0" marL="0">
              <a:spcAft>
                <a:spcPts val="500"/>
              </a:spcAft>
              <a:buNone/>
            </a:pP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蘋果在冰箱裡</a:t>
            </a: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→ in the refrigerator</a:t>
            </a:r>
            <a:pPr indent="0" marL="0">
              <a:spcAft>
                <a:spcPts val="500"/>
              </a:spcAft>
              <a:buNone/>
            </a:pP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貓在椅子後面</a:t>
            </a: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→ behind the chair</a:t>
            </a:r>
            <a:pPr indent="0" marL="0">
              <a:spcAft>
                <a:spcPts val="500"/>
              </a:spcAft>
              <a:buNone/>
            </a:pP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時鐘在杯子旁邊</a:t>
            </a: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→ next to the cup / by the cup</a:t>
            </a:r>
            <a:pPr indent="0" marL="0">
              <a:spcAft>
                <a:spcPts val="500"/>
              </a:spcAft>
              <a:buNone/>
            </a:pP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樓層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在三樓：on the </a:t>
            </a:r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third（3rd）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floor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對話 1　Where is the laundry basket?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p.66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6012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Eric　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Sooji, these are the rules for this house.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守智，這些是這家裡的住宿守則。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Sooji　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Eric, where is the laundry basket?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艾瑞克，洗衣籃在哪裡？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Eric　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It's behind your closet door.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在你的衣櫃門後面。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Sooji　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see. Is the dishwasher in the kitchen?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了解。洗碗機在廚房嗎？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Eric　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Yes, it's under the sink.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對，在洗手槽下面。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Sooji　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got it.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我知道了。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577840" y="960120"/>
            <a:ext cx="3108960" cy="2103120"/>
          </a:xfrm>
          <a:prstGeom prst="roundRect">
            <a:avLst>
              <a:gd name="adj" fmla="val 4348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60720" y="1106424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住宿守則（祈使句）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1463040"/>
            <a:ext cx="274320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Put your laundry in the basket in your room.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Put your plates in the dishwasher after your meals.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Come home by 11 p.m.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Call Eric after you leave.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祈使句：省略 you，動詞原形開頭　Come here. 來這裡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3200400"/>
            <a:ext cx="3108960" cy="1508760"/>
          </a:xfrm>
          <a:prstGeom prst="roundRect">
            <a:avLst>
              <a:gd name="adj" fmla="val 6061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60720" y="334670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新用法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760720" y="3703320"/>
            <a:ext cx="2743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see.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原來如此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got it.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我知道了（口語）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laundry 換洗衣物 · basket 籃子 · closet 衣櫥 · sink 水槽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對話 2　Where is the frozen section?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p.67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6012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Elise　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Where are the eggs in this supermarket?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這間超市的雞蛋在哪裡？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Justin　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don't know. Excuse me. Where is the dairy section?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我不知道。不好意思，請問乳製品區在哪裡？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Clerk　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Oh, it's between the frozen section and the vegetable section.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喔，在冷凍食品區和蔬菜區之間。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Justin　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Where is the frozen section?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冷凍食品區在哪裡？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Clerk　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It's next to the meat section. There. It's on the 2nd floor.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在肉品區旁邊。在那裡。就在二樓。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831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Justin　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see. Thank you.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　原來如此，謝謝你。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577840" y="960120"/>
            <a:ext cx="3108960" cy="1965960"/>
          </a:xfrm>
          <a:prstGeom prst="roundRect">
            <a:avLst>
              <a:gd name="adj" fmla="val 465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60720" y="110642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說樓層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1463040"/>
            <a:ext cx="27432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 the ＋ 序數 ＋ floor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 the first (1st) floor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在一樓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 the third (3rd) floor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在三樓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介係詞用 on，數字用序數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3063240"/>
            <a:ext cx="3108960" cy="1645920"/>
          </a:xfrm>
          <a:prstGeom prst="roundRect">
            <a:avLst>
              <a:gd name="adj" fmla="val 5556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60720" y="320954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新用法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760720" y="3566160"/>
            <a:ext cx="27432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Excuse me.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不好意思，請問一下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don't know.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我不知道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dairy 乳製品 · frozen 冷凍的 · vegetable 蔬菜 · meat 肉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單字補給站　各類感嘆詞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p.68</a:t>
            </a:r>
            <a:endParaRPr lang="en-US" sz="11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4023360" cy="914400"/>
        </p:xfrm>
        <a:graphic>
          <a:graphicData uri="http://schemas.openxmlformats.org/drawingml/2006/table">
            <a:tbl>
              <a:tblPr/>
              <a:tblGrid>
                <a:gridCol w="1689811"/>
                <a:gridCol w="2333549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A-ha!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啊哈！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Oh my gosh!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噢，我的天啊！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Wow!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哇！（驚訝、佩服）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Hurray!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萬歲！（非常開心）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Ssh!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噓！（要人安靜）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Oops!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唉呀！（犯小錯）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Ouch!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哎呀！（突然痛）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Peekaboo!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躲貓貓（逗小孩）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Tada!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噠啦！（介紹驚喜）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960120"/>
          <a:ext cx="4023360" cy="914400"/>
        </p:xfrm>
        <a:graphic>
          <a:graphicData uri="http://schemas.openxmlformats.org/drawingml/2006/table">
            <a:tbl>
              <a:tblPr/>
              <a:tblGrid>
                <a:gridCol w="1689811"/>
                <a:gridCol w="2333549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Tut tut!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嘖嘖！（不認同）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Whew!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呼！（好險）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Yay!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呀呼！（歡欣）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Yikes!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唉呀！（噁心、厭惡）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Yoo-hoo!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喲呼！（大聲叫人）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Gosh!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天啊！（遇到壞事）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Psst!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喂！噓！（偷偷叫人）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Shoot!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唉！（憤怒、失望）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實用表達法　許願、祝福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課本 p.69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960120"/>
            <a:ext cx="2651760" cy="3703320"/>
          </a:xfrm>
          <a:prstGeom prst="roundRect">
            <a:avLst>
              <a:gd name="adj" fmla="val 3448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10642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祝好運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22860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Good luck!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祝你好運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Thanks. Good luck to you, too.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謝謝，也祝你好運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其他說法：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All the best.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萬事順利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wish you the best of luck.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祝你好運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I'll keep my fingers crossed for you.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我會為你祈求好運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960120"/>
            <a:ext cx="2651760" cy="3703320"/>
          </a:xfrm>
          <a:prstGeom prst="roundRect">
            <a:avLst>
              <a:gd name="adj" fmla="val 3448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29000" y="110642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祝旅途愉快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3429000" y="1463040"/>
            <a:ext cx="22860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Have a nice trip!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祝旅途愉快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Thanks, Mom. See you next Saturday.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謝謝媽媽，下週六見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其他說法：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Enjoy your travels!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祝玩得開心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Bon voyage!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一路順風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35040" y="960120"/>
            <a:ext cx="2651760" cy="3703320"/>
          </a:xfrm>
          <a:prstGeom prst="roundRect">
            <a:avLst>
              <a:gd name="adj" fmla="val 3448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110642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祝成功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1463040"/>
            <a:ext cx="22860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hope you succeed.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祝你成功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Thank you very much.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非常感謝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其他說法：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I'll pray for your success.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我會為你祈求成功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wish you all the success.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祝你成功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四章總整理　一張表看完</a:t>
            </a:r>
            <a:endParaRPr lang="en-US" sz="24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2377440"/>
                <a:gridCol w="1828800"/>
                <a:gridCol w="21945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疑問詞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問什麼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句型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例句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回答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（無）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是不是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 ＋ 主詞 ＋ 補語？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Are you a student?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Yes, I am. / No, I'm not.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Who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誰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Who ＋ be ＋ 主詞？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Who is she?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She is my sister.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How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多～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How ＋ 形容詞 ＋ be ＋ 主詞？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How old is she?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She is 15 years old.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What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什麼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What ＋ be ＋ 主詞？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What is this?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This is a fan.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312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Where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在哪裡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Where ＋ be ＋ 主詞？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Where is he?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He is at home.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49377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280160"/>
                <a:gridCol w="1280160"/>
                <a:gridCol w="118872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人稱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主格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所有格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受格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我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my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me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你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you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your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you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他 / 她 / 它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he / she / it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his / her / its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him / her / it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我們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we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our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us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他們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they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their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them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1"/>
          <p:cNvSpPr/>
          <p:nvPr/>
        </p:nvSpPr>
        <p:spPr>
          <a:xfrm>
            <a:off x="5669280" y="3200400"/>
            <a:ext cx="3017520" cy="1508760"/>
          </a:xfrm>
          <a:prstGeom prst="roundRect">
            <a:avLst>
              <a:gd name="adj" fmla="val 6061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5852160" y="334670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B8312F"/>
          </a:solidFill>
          <a:ln>
            <a:solidFill>
              <a:srgbClr val="B831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 動詞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5852160" y="3703320"/>
            <a:ext cx="2651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→ am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 / she / it / this / that → is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you / we / they / these / those → are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基礎英文 Chapter 01–04 上課簡報</dc:title>
  <dc:subject>PptxGenJS Presentation</dc:subject>
  <dc:creator>PptxGenJS</dc:creator>
  <cp:lastModifiedBy>PptxGenJS</cp:lastModifiedBy>
  <cp:revision>1</cp:revision>
  <dcterms:created xsi:type="dcterms:W3CDTF">2026-09-26T10:11:10Z</dcterms:created>
  <dcterms:modified xsi:type="dcterms:W3CDTF">2026-09-26T10:11:10Z</dcterms:modified>
</cp:coreProperties>
</file>